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67" r:id="rId12"/>
    <p:sldId id="268" r:id="rId13"/>
    <p:sldId id="266"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609" autoAdjust="0"/>
    <p:restoredTop sz="94622" autoAdjust="0"/>
  </p:normalViewPr>
  <p:slideViewPr>
    <p:cSldViewPr>
      <p:cViewPr>
        <p:scale>
          <a:sx n="33" d="100"/>
          <a:sy n="33" d="100"/>
        </p:scale>
        <p:origin x="2558" y="109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212047" y="3834438"/>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02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17-04-2026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89304" y="5907881"/>
            <a:ext cx="15784162" cy="769441"/>
          </a:xfrm>
          <a:prstGeom prst="rect">
            <a:avLst/>
          </a:prstGeom>
          <a:noFill/>
        </p:spPr>
        <p:txBody>
          <a:bodyPr wrap="square" rtlCol="0">
            <a:spAutoFit/>
          </a:bodyPr>
          <a:lstStyle/>
          <a:p>
            <a:pPr algn="ctr"/>
            <a:r>
              <a:rPr lang="en-US" sz="4400" b="1" dirty="0">
                <a:solidFill>
                  <a:schemeClr val="tx2"/>
                </a:solidFill>
                <a:latin typeface="Times New Roman" panose="02020603050405020304" pitchFamily="18" charset="0"/>
                <a:cs typeface="Times New Roman" panose="02020603050405020304" pitchFamily="18" charset="0"/>
              </a:rPr>
              <a:t>Smart Campus Event Management System </a:t>
            </a:r>
            <a:endParaRPr lang="en-IN" sz="4400" b="1" dirty="0">
              <a:solidFill>
                <a:schemeClr val="tx2"/>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428362" y="7800539"/>
            <a:ext cx="9858638"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KESARA YASWANTH REDDY – VTU26049 – 23UECS0274</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Dr.Hafizur</a:t>
            </a:r>
            <a:r>
              <a:rPr lang="en-US" sz="3000" dirty="0">
                <a:latin typeface="Cambria" panose="02040503050406030204" pitchFamily="18" charset="0"/>
                <a:ea typeface="Cambria" panose="02040503050406030204" pitchFamily="18" charset="0"/>
              </a:rPr>
              <a:t> Rahman -Assistant Professor</a:t>
            </a:r>
            <a:endParaRPr lang="en-IN" sz="30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170621"/>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91588" y="1286239"/>
            <a:ext cx="16002000" cy="9063507"/>
          </a:xfrm>
          <a:prstGeom prst="rect">
            <a:avLst/>
          </a:prstGeom>
          <a:noFill/>
        </p:spPr>
        <p:txBody>
          <a:bodyPr wrap="square" rtlCol="0">
            <a:spAutoFit/>
          </a:bodyPr>
          <a:lstStyle/>
          <a:p>
            <a:pPr lvl="0" algn="just" eaLnBrk="0" fontAlgn="base" hangingPunct="0">
              <a:lnSpc>
                <a:spcPct val="15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In today’s fast-paced college environment, students often miss important updates due to scattered communication channels like notice boards, WhatsApp groups, and emails.</a:t>
            </a:r>
          </a:p>
          <a:p>
            <a:pPr lvl="0" algn="just" eaLnBrk="0" fontAlgn="base" hangingPunct="0">
              <a:lnSpc>
                <a:spcPct val="150000"/>
              </a:lnSpc>
              <a:spcBef>
                <a:spcPct val="0"/>
              </a:spcBef>
              <a:spcAft>
                <a:spcPct val="0"/>
              </a:spcAft>
              <a:buFontTx/>
              <a:buChar char="•"/>
            </a:pPr>
            <a:r>
              <a:rPr lang="en-US" altLang="en-US" sz="2800" i="1" dirty="0">
                <a:latin typeface="Times New Roman" panose="02020603050405020304" pitchFamily="18" charset="0"/>
                <a:cs typeface="Times New Roman" panose="02020603050405020304" pitchFamily="18" charset="0"/>
              </a:rPr>
              <a:t>“Information delayed is information denied.”</a:t>
            </a:r>
            <a:r>
              <a:rPr lang="en-US" altLang="en-US" sz="2800" dirty="0">
                <a:latin typeface="Times New Roman" panose="02020603050405020304" pitchFamily="18" charset="0"/>
                <a:cs typeface="Times New Roman" panose="02020603050405020304" pitchFamily="18" charset="0"/>
              </a:rPr>
              <a:t> This quote reflects the challenge many institutions face in keeping students informed in real time.</a:t>
            </a:r>
          </a:p>
          <a:p>
            <a:pPr lvl="0" algn="just" eaLnBrk="0" fontAlgn="base" hangingPunct="0">
              <a:lnSpc>
                <a:spcPct val="15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The lack of a unified communication system leads to confusion, missed events, and reduced participation in academic and extracurricular activities.</a:t>
            </a:r>
          </a:p>
          <a:p>
            <a:pPr algn="just" eaLnBrk="0" fontAlgn="base" hangingPunct="0">
              <a:lnSpc>
                <a:spcPct val="15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To solve this issue, our project introduces a </a:t>
            </a:r>
            <a:r>
              <a:rPr lang="en-US" sz="2800" b="1" dirty="0">
                <a:latin typeface="Times New Roman" panose="02020603050405020304" pitchFamily="18" charset="0"/>
                <a:cs typeface="Times New Roman" panose="02020603050405020304" pitchFamily="18" charset="0"/>
              </a:rPr>
              <a:t>Smart Campus Event Management System </a:t>
            </a:r>
            <a:r>
              <a:rPr lang="en-US" altLang="en-US" sz="2800" dirty="0">
                <a:latin typeface="Times New Roman" panose="02020603050405020304" pitchFamily="18" charset="0"/>
                <a:cs typeface="Times New Roman" panose="02020603050405020304" pitchFamily="18" charset="0"/>
              </a:rPr>
              <a:t>a centralized platform that streamlines all campus-related updates.</a:t>
            </a:r>
          </a:p>
          <a:p>
            <a:pPr lvl="0" algn="just" eaLnBrk="0" fontAlgn="base" hangingPunct="0">
              <a:lnSpc>
                <a:spcPct val="15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The portal allows administrators to post news, event details, and announcements efficiently, while students can easily access, search, and filter the information they need.</a:t>
            </a:r>
          </a:p>
          <a:p>
            <a:pPr lvl="0" algn="just" eaLnBrk="0" fontAlgn="base" hangingPunct="0">
              <a:lnSpc>
                <a:spcPct val="15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For example, instead of checking multiple sources, a student can simply log in to the portal and view all recent updates from their department, clubs, or college administration.</a:t>
            </a:r>
          </a:p>
          <a:p>
            <a:pPr lvl="0" algn="just" eaLnBrk="0" fontAlgn="base" hangingPunct="0">
              <a:lnSpc>
                <a:spcPct val="15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This project aims to bridge the communication gap and enhance engagement, transparency, and connectivity within the college community.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649408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Modern educational institutions host numerous events such as seminars, workshops, cultural programs, hackathons, and sports activities. Managing these events manually often leads to inefficiencies, miscommunication, and poor participation. Students and staff face challenges in discovering relevant events, registering seamlessly, and receiving timely updates. Organizers struggle with resource allocation, attendance tracking, and feedback collection.</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absence of a centralized, intelligent system results in:</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Fragmented communication across multiple platforms (emails, notice boards, social media).</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Difficulty in scheduling events without clashes.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visibility of upcoming events for students and faculty.</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Manual registration and attendance processes that are time-consuming and error-prone.</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Lack of data-driven insights for improving future events.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90500" y="27224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496318" y="2921550"/>
            <a:ext cx="15082325" cy="592418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Aim of the Project:</a:t>
            </a:r>
          </a:p>
          <a:p>
            <a:pPr algn="just">
              <a:lnSpc>
                <a:spcPct val="150000"/>
              </a:lnSpc>
            </a:pPr>
            <a:r>
              <a:rPr lang="en-US" sz="2800" dirty="0">
                <a:latin typeface="Times New Roman" panose="02020603050405020304" pitchFamily="18" charset="0"/>
                <a:cs typeface="Times New Roman" panose="02020603050405020304" pitchFamily="18" charset="0"/>
              </a:rPr>
              <a:t>To design and develop a centralized and secure </a:t>
            </a:r>
            <a:r>
              <a:rPr lang="en-US" sz="2800" b="1" dirty="0">
                <a:latin typeface="Times New Roman" panose="02020603050405020304" pitchFamily="18" charset="0"/>
                <a:cs typeface="Times New Roman" panose="02020603050405020304" pitchFamily="18" charset="0"/>
              </a:rPr>
              <a:t>Smart Campus Event Management System</a:t>
            </a:r>
            <a:r>
              <a:rPr lang="en-US" sz="2800" dirty="0">
                <a:latin typeface="Times New Roman" panose="02020603050405020304" pitchFamily="18" charset="0"/>
                <a:cs typeface="Times New Roman" panose="02020603050405020304" pitchFamily="18" charset="0"/>
              </a:rPr>
              <a:t> that simplifies campus communication by providing students and faculty with a single platform for accessing and managing news, events, and announcements in real </a:t>
            </a:r>
            <a:r>
              <a:rPr lang="en-US" sz="2800" dirty="0" err="1">
                <a:latin typeface="Times New Roman" panose="02020603050405020304" pitchFamily="18" charset="0"/>
                <a:cs typeface="Times New Roman" panose="02020603050405020304" pitchFamily="18" charset="0"/>
              </a:rPr>
              <a:t>time.Scope</a:t>
            </a:r>
            <a:r>
              <a:rPr lang="en-US" sz="2800" dirty="0">
                <a:latin typeface="Times New Roman" panose="02020603050405020304" pitchFamily="18" charset="0"/>
                <a:cs typeface="Times New Roman" panose="02020603050405020304" pitchFamily="18" charset="0"/>
              </a:rPr>
              <a:t> of the </a:t>
            </a:r>
            <a:r>
              <a:rPr lang="en-US" sz="2800" dirty="0" err="1">
                <a:latin typeface="Times New Roman" panose="02020603050405020304" pitchFamily="18" charset="0"/>
                <a:cs typeface="Times New Roman" panose="02020603050405020304" pitchFamily="18" charset="0"/>
              </a:rPr>
              <a:t>Project:Provides</a:t>
            </a:r>
            <a:r>
              <a:rPr lang="en-US" sz="2800" dirty="0">
                <a:latin typeface="Times New Roman" panose="02020603050405020304" pitchFamily="18" charset="0"/>
                <a:cs typeface="Times New Roman" panose="02020603050405020304" pitchFamily="18" charset="0"/>
              </a:rPr>
              <a:t> an accessible and responsive digital portal for students and staff to view college updates anytime, </a:t>
            </a:r>
            <a:r>
              <a:rPr lang="en-US" sz="2800" dirty="0" err="1">
                <a:latin typeface="Times New Roman" panose="02020603050405020304" pitchFamily="18" charset="0"/>
                <a:cs typeface="Times New Roman" panose="02020603050405020304" pitchFamily="18" charset="0"/>
              </a:rPr>
              <a:t>anywhere.Allows</a:t>
            </a:r>
            <a:r>
              <a:rPr lang="en-US" sz="2800" dirty="0">
                <a:latin typeface="Times New Roman" panose="02020603050405020304" pitchFamily="18" charset="0"/>
                <a:cs typeface="Times New Roman" panose="02020603050405020304" pitchFamily="18" charset="0"/>
              </a:rPr>
              <a:t> administrators to post, edit, and manage content securely through an authenticated </a:t>
            </a:r>
            <a:r>
              <a:rPr lang="en-US" sz="2800" dirty="0" err="1">
                <a:latin typeface="Times New Roman" panose="02020603050405020304" pitchFamily="18" charset="0"/>
                <a:cs typeface="Times New Roman" panose="02020603050405020304" pitchFamily="18" charset="0"/>
              </a:rPr>
              <a:t>system.Supports</a:t>
            </a:r>
            <a:r>
              <a:rPr lang="en-US" sz="2800" dirty="0">
                <a:latin typeface="Times New Roman" panose="02020603050405020304" pitchFamily="18" charset="0"/>
                <a:cs typeface="Times New Roman" panose="02020603050405020304" pitchFamily="18" charset="0"/>
              </a:rPr>
              <a:t> features like search, filters, and categorization to enhance user </a:t>
            </a:r>
            <a:r>
              <a:rPr lang="en-US" sz="2800" dirty="0" err="1">
                <a:latin typeface="Times New Roman" panose="02020603050405020304" pitchFamily="18" charset="0"/>
                <a:cs typeface="Times New Roman" panose="02020603050405020304" pitchFamily="18" charset="0"/>
              </a:rPr>
              <a:t>experience.Encourages</a:t>
            </a:r>
            <a:r>
              <a:rPr lang="en-US" sz="2800" dirty="0">
                <a:latin typeface="Times New Roman" panose="02020603050405020304" pitchFamily="18" charset="0"/>
                <a:cs typeface="Times New Roman" panose="02020603050405020304" pitchFamily="18" charset="0"/>
              </a:rPr>
              <a:t> transparency, faster communication, and improved engagement within the college community.</a:t>
            </a:r>
          </a:p>
          <a:p>
            <a:pPr algn="just">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6526" y="2131306"/>
            <a:ext cx="15082325"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Centralized Event Portal</a:t>
            </a:r>
            <a:r>
              <a:rPr lang="en-US" sz="2800" dirty="0">
                <a:latin typeface="Times New Roman" panose="02020603050405020304" pitchFamily="18" charset="0"/>
                <a:cs typeface="Times New Roman" panose="02020603050405020304" pitchFamily="18" charset="0"/>
              </a:rPr>
              <a:t> A single platform accessible via web and mobile apps where students, faculty, and organizers can view, register, and manage events.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Smart Scheduling &amp; Resource Management</a:t>
            </a:r>
            <a:r>
              <a:rPr lang="en-US" sz="2800" dirty="0">
                <a:latin typeface="Times New Roman" panose="02020603050405020304" pitchFamily="18" charset="0"/>
                <a:cs typeface="Times New Roman" panose="02020603050405020304" pitchFamily="18" charset="0"/>
              </a:rPr>
              <a:t> Automated scheduling to avoid clashes, with resource allocation (venues, equipment, staff) optimized through the system.</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Digital Registration &amp; Attendance</a:t>
            </a:r>
            <a:r>
              <a:rPr lang="en-US" sz="2800" dirty="0">
                <a:latin typeface="Times New Roman" panose="02020603050405020304" pitchFamily="18" charset="0"/>
                <a:cs typeface="Times New Roman" panose="02020603050405020304" pitchFamily="18" charset="0"/>
              </a:rPr>
              <a:t> Online registration with QR codes, RFID, or biometric integration for seamless check‑in and attendance tracking.</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Real‑Time Notifications</a:t>
            </a:r>
            <a:r>
              <a:rPr lang="en-US" sz="2800" dirty="0">
                <a:latin typeface="Times New Roman" panose="02020603050405020304" pitchFamily="18" charset="0"/>
                <a:cs typeface="Times New Roman" panose="02020603050405020304" pitchFamily="18" charset="0"/>
              </a:rPr>
              <a:t> Push notifications, emails, and SMS alerts for event updates, reminders, and last‑minute changes.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Role‑Based Access Control</a:t>
            </a:r>
            <a:r>
              <a:rPr lang="en-US" sz="2800" dirty="0">
                <a:latin typeface="Times New Roman" panose="02020603050405020304" pitchFamily="18" charset="0"/>
                <a:cs typeface="Times New Roman" panose="02020603050405020304" pitchFamily="18" charset="0"/>
              </a:rPr>
              <a:t> Different interfaces for students, faculty, and administrators to ensure secure and relevant access.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Integration with Campus Systems</a:t>
            </a:r>
            <a:r>
              <a:rPr lang="en-US" sz="2800" dirty="0">
                <a:latin typeface="Times New Roman" panose="02020603050405020304" pitchFamily="18" charset="0"/>
                <a:cs typeface="Times New Roman" panose="02020603050405020304" pitchFamily="18" charset="0"/>
              </a:rPr>
              <a:t> Links with existing student information systems, calendars, and communication platforms for smooth interoperability.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981200" y="1266574"/>
            <a:ext cx="15082325" cy="7770845"/>
          </a:xfrm>
          <a:prstGeom prst="rect">
            <a:avLst/>
          </a:prstGeom>
          <a:noFill/>
        </p:spPr>
        <p:txBody>
          <a:bodyPr wrap="square" rtlCol="0">
            <a:spAutoFit/>
          </a:bodyPr>
          <a:lstStyle/>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system is centered around the "News" entity, which contains different categories of news such as Sports, Educational, and Entertainment, as shown by the oval nodes connected to "</a:t>
            </a:r>
            <a:r>
              <a:rPr lang="en-US" sz="2800" dirty="0" err="1">
                <a:latin typeface="Times New Roman" panose="02020603050405020304" pitchFamily="18" charset="0"/>
                <a:cs typeface="Times New Roman" panose="02020603050405020304" pitchFamily="18" charset="0"/>
              </a:rPr>
              <a:t>News".image.jpg</a:t>
            </a:r>
            <a:r>
              <a:rPr lang="en-US" sz="2800"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"News" entity relates to users in two main roles: "Registered User" (who reads news) and "Administrator" (who manages news),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depicted by connecting lines and diamond-shaped relationship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nodes.image.jpg​</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Each "Registered User" is defined by several attributes:</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User ID, Email ID, and Password, while the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 has attributes Admin ID and Password,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indicating the need for authentication and user management</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in the system.image.jpg​</a:t>
            </a:r>
          </a:p>
        </p:txBody>
      </p:sp>
      <p:pic>
        <p:nvPicPr>
          <p:cNvPr id="3" name="Picture 2">
            <a:extLst>
              <a:ext uri="{FF2B5EF4-FFF2-40B4-BE49-F238E27FC236}">
                <a16:creationId xmlns:a16="http://schemas.microsoft.com/office/drawing/2014/main" id="{61BBB793-2D8C-C6D2-3B8E-9DE568F61719}"/>
              </a:ext>
            </a:extLst>
          </p:cNvPr>
          <p:cNvPicPr>
            <a:picLocks noChangeAspect="1"/>
          </p:cNvPicPr>
          <p:nvPr/>
        </p:nvPicPr>
        <p:blipFill>
          <a:blip r:embed="rId3"/>
          <a:stretch>
            <a:fillRect/>
          </a:stretch>
        </p:blipFill>
        <p:spPr>
          <a:xfrm>
            <a:off x="11295998" y="4179268"/>
            <a:ext cx="6763402" cy="52318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24967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052" name="Picture 4" descr="Smart Campus Event Workflow Diagram">
            <a:extLst>
              <a:ext uri="{FF2B5EF4-FFF2-40B4-BE49-F238E27FC236}">
                <a16:creationId xmlns:a16="http://schemas.microsoft.com/office/drawing/2014/main" id="{AD858379-FE23-B40D-23AD-B5FCC19FB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790700"/>
            <a:ext cx="11811000" cy="76238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704035" y="1835672"/>
            <a:ext cx="15082325" cy="6124754"/>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Frontend: HTML5, CSS3, JavaScript for responsive UI and dashboards.</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Backend: PHP 8 (core PHP) for business logic, authentication, and role-based access.</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Database: MySQL for storing users, courses, lessons, enrollments, progress, and reviews.</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Tools: XAMPP (Apache, PHP, MySQL), phpMyAdmin for DB management, VS Code for coding, browser dev tools for testing UI.</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Hardware Requirements: Standard PC or laptop with at least 4 GB RAM, modern web browser, and local server environment.</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Software Requirements: Windows OS, XAMPP stack installed, modern browser (Chrome/Edge), and code editor (VS Code/ Sublime)</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51100" y="1208453"/>
            <a:ext cx="15082325" cy="8335936"/>
          </a:xfrm>
          <a:prstGeom prst="rect">
            <a:avLst/>
          </a:prstGeom>
          <a:noFill/>
        </p:spPr>
        <p:txBody>
          <a:bodyPr wrap="square" rtlCol="0">
            <a:spAutoFit/>
          </a:bodyPr>
          <a:lstStyle/>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1: Student Interface Design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Displays campus news, events, and announcements in a clean, responsive layout accessible to all students.</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2: Admin Panel &amp; Authentication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Secure login system for authorized administrators to manage posts, categories, and event details.</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3: Search and Filter System</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Enables students to quickly find news using keywords, dates, or categories for efficient browsing.</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4: Secure Authentication &amp; Session Management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Protects admin accounts with password hashing, validation, and role-based access control.</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5: Database Management System</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Stores and retrieves all posts, user details, and categories using </a:t>
            </a:r>
            <a:r>
              <a:rPr lang="en-US" altLang="en-US" sz="2400" b="1" dirty="0">
                <a:latin typeface="Times New Roman" panose="02020603050405020304" pitchFamily="18" charset="0"/>
                <a:cs typeface="Times New Roman" panose="02020603050405020304" pitchFamily="18" charset="0"/>
              </a:rPr>
              <a:t>MySQL</a:t>
            </a:r>
            <a:r>
              <a:rPr lang="en-US" altLang="en-US" sz="2400" dirty="0">
                <a:latin typeface="Times New Roman" panose="02020603050405020304" pitchFamily="18" charset="0"/>
                <a:cs typeface="Times New Roman" panose="02020603050405020304" pitchFamily="18" charset="0"/>
              </a:rPr>
              <a:t> for data consistency and reliability.</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6: Responsive Frontend Development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Implements adaptive UI/UX using </a:t>
            </a:r>
            <a:r>
              <a:rPr lang="en-US" altLang="en-US" sz="2400" b="1" dirty="0">
                <a:latin typeface="Times New Roman" panose="02020603050405020304" pitchFamily="18" charset="0"/>
                <a:cs typeface="Times New Roman" panose="02020603050405020304" pitchFamily="18" charset="0"/>
              </a:rPr>
              <a:t>HTML, CSS, and JavaScript</a:t>
            </a:r>
            <a:r>
              <a:rPr lang="en-US" altLang="en-US" sz="2400" dirty="0">
                <a:latin typeface="Times New Roman" panose="02020603050405020304" pitchFamily="18" charset="0"/>
                <a:cs typeface="Times New Roman" panose="02020603050405020304" pitchFamily="18" charset="0"/>
              </a:rPr>
              <a:t>, ensuring compatibility across mobile, tablet, and desktop devices.</a:t>
            </a:r>
          </a:p>
          <a:p>
            <a:pPr lvl="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MODULE 7: Testing and Deployment</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Involves functional, security, and usability testing; followed by hosting on a local or cloud server for 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1384995"/>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Home Page: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Displays featured courses, trending categories, and a modern hero section that introduces the Skill Learning Academy platform to users.</a:t>
            </a:r>
            <a:endParaRPr lang="en-IN" sz="2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D167DB37-C704-9BDB-F871-8CDE6CFF1051}"/>
              </a:ext>
            </a:extLst>
          </p:cNvPr>
          <p:cNvSpPr>
            <a:spLocks noChangeAspect="1" noChangeArrowheads="1"/>
          </p:cNvSpPr>
          <p:nvPr/>
        </p:nvSpPr>
        <p:spPr bwMode="auto">
          <a:xfrm>
            <a:off x="9982200" y="437931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DED82092-B3B0-511C-408D-98565E727D27}"/>
              </a:ext>
            </a:extLst>
          </p:cNvPr>
          <p:cNvPicPr>
            <a:picLocks noChangeAspect="1"/>
          </p:cNvPicPr>
          <p:nvPr/>
        </p:nvPicPr>
        <p:blipFill>
          <a:blip r:embed="rId3"/>
          <a:stretch>
            <a:fillRect/>
          </a:stretch>
        </p:blipFill>
        <p:spPr>
          <a:xfrm>
            <a:off x="8456309" y="3021105"/>
            <a:ext cx="6153150" cy="619125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t>
            </a:r>
            <a:r>
              <a:rPr lang="en-US" sz="2800" b="1" dirty="0">
                <a:latin typeface="Times New Roman" panose="02020603050405020304" pitchFamily="18" charset="0"/>
                <a:cs typeface="Times New Roman" panose="02020603050405020304" pitchFamily="18" charset="0"/>
              </a:rPr>
              <a:t>ogin Page: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secure login for  and admins with clean input forms and role-based redirection after successful authentication</a:t>
            </a:r>
            <a:endParaRPr lang="en-IN" sz="28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04A68637-7CD4-AB62-A668-E1A0C97ACBB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5A603E74-489D-84B8-B559-7516C502833F}"/>
              </a:ext>
            </a:extLst>
          </p:cNvPr>
          <p:cNvPicPr>
            <a:picLocks noChangeAspect="1"/>
          </p:cNvPicPr>
          <p:nvPr/>
        </p:nvPicPr>
        <p:blipFill>
          <a:blip r:embed="rId3"/>
          <a:stretch>
            <a:fillRect/>
          </a:stretch>
        </p:blipFill>
        <p:spPr>
          <a:xfrm>
            <a:off x="9509276" y="2540260"/>
            <a:ext cx="8176757" cy="7417946"/>
          </a:xfrm>
          <a:prstGeom prst="rect">
            <a:avLst/>
          </a:prstGeom>
        </p:spPr>
      </p:pic>
      <p:pic>
        <p:nvPicPr>
          <p:cNvPr id="39" name="Picture 38">
            <a:extLst>
              <a:ext uri="{FF2B5EF4-FFF2-40B4-BE49-F238E27FC236}">
                <a16:creationId xmlns:a16="http://schemas.microsoft.com/office/drawing/2014/main" id="{34251C8E-3275-FCFC-BDAA-0477146DEF5F}"/>
              </a:ext>
            </a:extLst>
          </p:cNvPr>
          <p:cNvPicPr>
            <a:picLocks noChangeAspect="1"/>
          </p:cNvPicPr>
          <p:nvPr/>
        </p:nvPicPr>
        <p:blipFill>
          <a:blip r:embed="rId4"/>
          <a:stretch>
            <a:fillRect/>
          </a:stretch>
        </p:blipFill>
        <p:spPr>
          <a:xfrm>
            <a:off x="2821061" y="3800590"/>
            <a:ext cx="5840474" cy="463945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954107"/>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Main Module – Student Dashboard:</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Shows enrolled events, basic stats  and quick links to continue lessons in a structured layout.</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2CA3F86-03E7-3621-B137-CCB574A9BE6A}"/>
              </a:ext>
            </a:extLst>
          </p:cNvPr>
          <p:cNvPicPr>
            <a:picLocks noChangeAspect="1"/>
          </p:cNvPicPr>
          <p:nvPr/>
        </p:nvPicPr>
        <p:blipFill>
          <a:blip r:embed="rId3"/>
          <a:stretch>
            <a:fillRect/>
          </a:stretch>
        </p:blipFill>
        <p:spPr>
          <a:xfrm>
            <a:off x="2631187" y="3487698"/>
            <a:ext cx="14306550" cy="581977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6" name="Picture 5">
            <a:extLst>
              <a:ext uri="{FF2B5EF4-FFF2-40B4-BE49-F238E27FC236}">
                <a16:creationId xmlns:a16="http://schemas.microsoft.com/office/drawing/2014/main" id="{0147C240-73A2-3407-1AF5-DD0ACEF62A35}"/>
              </a:ext>
            </a:extLst>
          </p:cNvPr>
          <p:cNvPicPr>
            <a:picLocks noChangeAspect="1"/>
          </p:cNvPicPr>
          <p:nvPr/>
        </p:nvPicPr>
        <p:blipFill>
          <a:blip r:embed="rId3"/>
          <a:stretch>
            <a:fillRect/>
          </a:stretch>
        </p:blipFill>
        <p:spPr>
          <a:xfrm>
            <a:off x="2606566" y="1590143"/>
            <a:ext cx="14761237" cy="782055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5410A79-337F-4EE3-A043-DE4A5E46FB55}"/>
              </a:ext>
            </a:extLst>
          </p:cNvPr>
          <p:cNvSpPr txBox="1"/>
          <p:nvPr/>
        </p:nvSpPr>
        <p:spPr>
          <a:xfrm>
            <a:off x="2642946" y="1470197"/>
            <a:ext cx="14050370" cy="7848302"/>
          </a:xfrm>
          <a:prstGeom prst="rect">
            <a:avLst/>
          </a:prstGeom>
          <a:noFill/>
        </p:spPr>
        <p:txBody>
          <a:bodyPr wrap="square">
            <a:spAutoFit/>
          </a:body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Advantages:</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Management: All campus events are organized and tracked through a single platform, reducing confusion and </a:t>
            </a:r>
            <a:r>
              <a:rPr lang="en-US" sz="2800" dirty="0" err="1">
                <a:latin typeface="Times New Roman" panose="02020603050405020304" pitchFamily="18" charset="0"/>
                <a:cs typeface="Times New Roman" panose="02020603050405020304" pitchFamily="18" charset="0"/>
              </a:rPr>
              <a:t>duplication.Automation</a:t>
            </a:r>
            <a:r>
              <a:rPr lang="en-US" sz="28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Registration, scheduling, and attendance are automated, saving time and minimizing manual </a:t>
            </a:r>
            <a:r>
              <a:rPr lang="en-US" sz="2800" dirty="0" err="1">
                <a:latin typeface="Times New Roman" panose="02020603050405020304" pitchFamily="18" charset="0"/>
                <a:cs typeface="Times New Roman" panose="02020603050405020304" pitchFamily="18" charset="0"/>
              </a:rPr>
              <a:t>errors.Smart</a:t>
            </a:r>
            <a:r>
              <a:rPr lang="en-US" sz="2800" dirty="0">
                <a:latin typeface="Times New Roman" panose="02020603050405020304" pitchFamily="18" charset="0"/>
                <a:cs typeface="Times New Roman" panose="02020603050405020304" pitchFamily="18" charset="0"/>
              </a:rPr>
              <a:t> Scheduling.</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Prevents event clashes by intelligently managing dates, venues, and </a:t>
            </a:r>
            <a:r>
              <a:rPr lang="en-US" sz="2800" dirty="0" err="1">
                <a:latin typeface="Times New Roman" panose="02020603050405020304" pitchFamily="18" charset="0"/>
                <a:cs typeface="Times New Roman" panose="02020603050405020304" pitchFamily="18" charset="0"/>
              </a:rPr>
              <a:t>resources.Enhanced</a:t>
            </a:r>
            <a:r>
              <a:rPr lang="en-US" sz="2800" dirty="0">
                <a:latin typeface="Times New Roman" panose="02020603050405020304" pitchFamily="18" charset="0"/>
                <a:cs typeface="Times New Roman" panose="02020603050405020304" pitchFamily="18" charset="0"/>
              </a:rPr>
              <a:t> Communication.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Real-time notifications and updates keep students and staff informed </a:t>
            </a:r>
            <a:r>
              <a:rPr lang="en-US" sz="2800" dirty="0" err="1">
                <a:latin typeface="Times New Roman" panose="02020603050405020304" pitchFamily="18" charset="0"/>
                <a:cs typeface="Times New Roman" panose="02020603050405020304" pitchFamily="18" charset="0"/>
              </a:rPr>
              <a:t>instantly.Data</a:t>
            </a:r>
            <a:r>
              <a:rPr lang="en-US" sz="2800" dirty="0">
                <a:latin typeface="Times New Roman" panose="02020603050405020304" pitchFamily="18" charset="0"/>
                <a:cs typeface="Times New Roman" panose="02020603050405020304" pitchFamily="18" charset="0"/>
              </a:rPr>
              <a:t> Analytics: Provides insights into participation trends, feedback, and resource utilization for better decision-making.</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Data Security Risks: Sensitive student and event data must be protected against unauthorized </a:t>
            </a:r>
            <a:r>
              <a:rPr lang="en-US" sz="2800" dirty="0" err="1">
                <a:latin typeface="Times New Roman" panose="02020603050405020304" pitchFamily="18" charset="0"/>
                <a:cs typeface="Times New Roman" panose="02020603050405020304" pitchFamily="18" charset="0"/>
              </a:rPr>
              <a:t>access.Maintenance</a:t>
            </a:r>
            <a:r>
              <a:rPr lang="en-US" sz="2800" dirty="0">
                <a:latin typeface="Times New Roman" panose="02020603050405020304" pitchFamily="18" charset="0"/>
                <a:cs typeface="Times New Roman" panose="02020603050405020304" pitchFamily="18" charset="0"/>
              </a:rPr>
              <a:t> Needs.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Regular updates and technical support are essential to ensure smooth </a:t>
            </a:r>
            <a:r>
              <a:rPr lang="en-US" sz="2800" dirty="0" err="1">
                <a:latin typeface="Times New Roman" panose="02020603050405020304" pitchFamily="18" charset="0"/>
                <a:cs typeface="Times New Roman" panose="02020603050405020304" pitchFamily="18" charset="0"/>
              </a:rPr>
              <a:t>operation.User</a:t>
            </a:r>
            <a:r>
              <a:rPr lang="en-US" sz="2800" dirty="0">
                <a:latin typeface="Times New Roman" panose="02020603050405020304" pitchFamily="18" charset="0"/>
                <a:cs typeface="Times New Roman" panose="02020603050405020304" pitchFamily="18" charset="0"/>
              </a:rPr>
              <a:t> Adaptation.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Some users may face challenges adapting to the new digital system initially.</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334</TotalTime>
  <Words>1432</Words>
  <Application>Microsoft Office PowerPoint</Application>
  <PresentationFormat>Custom</PresentationFormat>
  <Paragraphs>209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vt:lpstr>
      <vt:lpstr>Gotham Bold Italics</vt:lpstr>
      <vt:lpstr>Calibri</vt:lpstr>
      <vt:lpstr>Cambria</vt:lpstr>
      <vt:lpstr>Arial</vt:lpstr>
      <vt:lpstr>Bookman Old Style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NANI</dc:creator>
  <cp:lastModifiedBy>K Varma</cp:lastModifiedBy>
  <cp:revision>21</cp:revision>
  <dcterms:created xsi:type="dcterms:W3CDTF">2006-08-16T00:00:00Z</dcterms:created>
  <dcterms:modified xsi:type="dcterms:W3CDTF">2026-04-17T05:04:33Z</dcterms:modified>
  <dc:identifier>DAHCaYqJ9OU</dc:identifier>
</cp:coreProperties>
</file>